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Customer</a:t>
            </a:r>
            <a:r>
              <a:rPr lang="en-US" sz="1600" baseline="0" dirty="0">
                <a:solidFill>
                  <a:schemeClr val="tx1"/>
                </a:solidFill>
                <a:latin typeface="+mn-lt"/>
              </a:rPr>
              <a:t> Segmentation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c:rich>
      </c:tx>
      <c:layout>
        <c:manualLayout>
          <c:xMode val="edge"/>
          <c:yMode val="edge"/>
          <c:x val="0.22298396616873034"/>
          <c:y val="2.9884297249266452E-2"/>
        </c:manualLayout>
      </c:layout>
      <c:overlay val="0"/>
      <c:spPr>
        <a:solidFill>
          <a:schemeClr val="accent1">
            <a:lumMod val="20000"/>
            <a:lumOff val="80000"/>
          </a:schemeClr>
        </a:solidFill>
        <a:ln>
          <a:solidFill>
            <a:schemeClr val="accent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79779387626862E-2"/>
          <c:y val="0.13477591266737185"/>
          <c:w val="0.33689968480500665"/>
          <c:h val="0.6799616617262130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61-433A-A21A-3E3E983AD9D6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3E6-4569-9A9B-D33E47E6378E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3E6-4569-9A9B-D33E47E6378E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3E6-4569-9A9B-D33E47E637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Low-Engagement Casuals</c:v>
                </c:pt>
                <c:pt idx="1">
                  <c:v>At-Risk High-Value</c:v>
                </c:pt>
                <c:pt idx="2">
                  <c:v>Platinum Champions</c:v>
                </c:pt>
                <c:pt idx="3">
                  <c:v>Emerging Devotees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1855</c:v>
                </c:pt>
                <c:pt idx="1">
                  <c:v>1118</c:v>
                </c:pt>
                <c:pt idx="2">
                  <c:v>834</c:v>
                </c:pt>
                <c:pt idx="3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61-433A-A21A-3E3E983AD9D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178875400486271"/>
          <c:y val="0.14411905281729614"/>
          <c:w val="0.1908983870220583"/>
          <c:h val="0.21993143369662069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C889-E87E-CD3C-811C-6043FF99A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3E417-889C-1B69-C851-D2A5E911C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D113D-1C80-617A-8C20-0610E57A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47373-7CB8-11B0-C80B-136A16F8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B68A3-E2E3-BD30-3204-37EE1FEB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18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6159-C67B-A17F-0327-5C35056C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A2907-6562-69DD-045F-ED9C22039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9DCE5-C22A-93FC-7715-A6783095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DFF75-B26F-CA90-0521-1E7BA58E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5C1BB-275C-E6A4-4C9C-E58F5EB8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8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E114-E3D5-6A09-F71F-4C5B1AB4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B04EF-B445-4A9E-39AF-2BA66EC89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6769C-1B1C-6EFD-1C3F-5E16E914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10B5F-C88D-AE38-C4F0-2C548E6B3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1D03C-22BA-BB1D-77C6-280390C4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9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C4F9-4CEB-F5DE-3377-91850EDF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8300-AFC9-6FEA-C058-84ADDE7AB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17500-A6E0-62E3-0636-C84CE9E90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10BB6-C5D6-C754-5E8D-1432462F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08E2B-0D39-4D25-7EA4-DFC4B504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8F571-EC79-23AC-2703-768088D5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39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6BD0-68BC-EAEF-4D30-A9F602D5E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E25A7-8974-6293-EA81-355951DC9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07AFB-5C1F-C48A-6010-9CF159D2F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661784-BB6B-CC7A-B30A-87907DA0D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E5837-28C2-9AD4-C0CF-2237A47D9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DD58AB-EB8C-175D-BBF1-325ECA87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0E040-1C04-9EBE-1EAB-A0C9B7F0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CF2ACF-D264-4A65-4AE4-AB3A445D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274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9D74-6F01-2565-5446-5AC1212A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05F149-D0DD-22E3-8681-3C1507D02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652F61-DBBE-BEE9-96DD-AD32D67C1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D69BB-1BDD-E4DE-D696-62921F87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18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9358E-A153-E8F5-5EE6-882859BE2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75F32-AD95-1E57-CC56-4A1C62DB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1E29F-5C8A-0C3B-5F86-091BD01B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6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A958-E712-2415-4B88-456C9D437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C72A3-CAC5-BE53-6D72-30D7F80FE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AE252-E4D8-E647-EF0D-BD31852F0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3CA6D-087C-0922-CC7E-69ED04F0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5B7CA-071C-7DFF-AC67-6075D8653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FC30-09DC-6229-AA3D-A1C05AF8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48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BBAE6-BC63-7CB8-9640-57FC02EF1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090275-108D-CFEE-3E75-A7842D87D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FCAEF-5098-F679-1739-1E67504A2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FA2CE-30CE-9298-EBBA-5B1DE2EC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1EAD0-BA58-B878-E17F-DD0BDC70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E71A2-CFAC-176C-7A84-5A2CCB1A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42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C3EC-17C4-6E37-43CD-823F61BB5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31EF8-CF0C-FA2E-73E4-66541CFFC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8A19F-1733-D2EF-A411-14FFBB133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1D543-5314-D18E-17D8-2418E8B0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F4901-A39B-C9B9-D095-4E5BED66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91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D49B0-7B34-7644-A9FE-697616414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34D93-4E2C-FF4C-E87B-D20859B77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BE592-FF5D-702C-DEDB-68C9AE89B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EEFA3-3AD4-FB6F-ED04-504AF764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4AD97-C800-7C54-47D0-BF49E561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15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25614-133E-D9C1-D323-376B6D87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58829-BEE7-DE53-80F0-27A32D76A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3750B-07D3-7B04-1516-069D1C18C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E05F7-D77F-431F-BA59-4EBE330F7B2B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58F4C-BED3-6082-58D1-6FE5D854F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F5746-E91B-7DF9-828B-7AF7B3A03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1AD3E-27D9-41CB-A57B-9D7FDF2B3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00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5266BE-D5CB-3DE6-BDB2-33C99B96ABE9}"/>
              </a:ext>
            </a:extLst>
          </p:cNvPr>
          <p:cNvSpPr txBox="1"/>
          <p:nvPr/>
        </p:nvSpPr>
        <p:spPr>
          <a:xfrm>
            <a:off x="105508" y="0"/>
            <a:ext cx="3938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EXECUTIVE SUMMARY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4B6B694-973F-0395-3D0F-7D696DF3E38F}"/>
              </a:ext>
            </a:extLst>
          </p:cNvPr>
          <p:cNvCxnSpPr/>
          <p:nvPr/>
        </p:nvCxnSpPr>
        <p:spPr>
          <a:xfrm>
            <a:off x="105508" y="492525"/>
            <a:ext cx="11869615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D12755-CBF6-FC1B-72A0-500FC90A550D}"/>
              </a:ext>
            </a:extLst>
          </p:cNvPr>
          <p:cNvSpPr/>
          <p:nvPr/>
        </p:nvSpPr>
        <p:spPr>
          <a:xfrm>
            <a:off x="345831" y="541534"/>
            <a:ext cx="11500338" cy="72097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OBJECTIVE : </a:t>
            </a:r>
            <a:r>
              <a:rPr lang="en-IN" sz="1600" dirty="0"/>
              <a:t>Determine whether the brand is building a genuinely loyal customer base or relying on promotions to drive revenue, and identify actions that improve retention while reducing discount dependency.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446219B-CF50-F72F-479A-DFD83D0AFF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8003910"/>
              </p:ext>
            </p:extLst>
          </p:nvPr>
        </p:nvGraphicFramePr>
        <p:xfrm>
          <a:off x="-62183" y="1213496"/>
          <a:ext cx="8483749" cy="3897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EE2F1E3-AF53-5FDC-8154-C767879A5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193951"/>
              </p:ext>
            </p:extLst>
          </p:nvPr>
        </p:nvGraphicFramePr>
        <p:xfrm>
          <a:off x="5736449" y="3628046"/>
          <a:ext cx="6109720" cy="1859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54860">
                  <a:extLst>
                    <a:ext uri="{9D8B030D-6E8A-4147-A177-3AD203B41FA5}">
                      <a16:colId xmlns:a16="http://schemas.microsoft.com/office/drawing/2014/main" val="2542837816"/>
                    </a:ext>
                  </a:extLst>
                </a:gridCol>
                <a:gridCol w="3054860">
                  <a:extLst>
                    <a:ext uri="{9D8B030D-6E8A-4147-A177-3AD203B41FA5}">
                      <a16:colId xmlns:a16="http://schemas.microsoft.com/office/drawing/2014/main" val="23945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Strengths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Weaknesses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96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Strong Platinum Champion segment with zero promotional dependence.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 promo dependence among At-Risk High-Value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680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Established customer base of 3,900 </a:t>
                      </a:r>
                      <a:r>
                        <a:rPr lang="en-IN" sz="1400"/>
                        <a:t>customers over 50 states.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Nearly half of customers are low-value casuals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294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Ability to generate loyalty beyond promotional incentives.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Dependence on discounts among high-value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53769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808487-7E93-1A5B-367F-C2B89A7AE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596054"/>
              </p:ext>
            </p:extLst>
          </p:nvPr>
        </p:nvGraphicFramePr>
        <p:xfrm>
          <a:off x="5736449" y="5504303"/>
          <a:ext cx="6109720" cy="1219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52707">
                  <a:extLst>
                    <a:ext uri="{9D8B030D-6E8A-4147-A177-3AD203B41FA5}">
                      <a16:colId xmlns:a16="http://schemas.microsoft.com/office/drawing/2014/main" val="2645533270"/>
                    </a:ext>
                  </a:extLst>
                </a:gridCol>
                <a:gridCol w="3057013">
                  <a:extLst>
                    <a:ext uri="{9D8B030D-6E8A-4147-A177-3AD203B41FA5}">
                      <a16:colId xmlns:a16="http://schemas.microsoft.com/office/drawing/2014/main" val="2534418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Threats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287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Expand acquisition among females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Margin erosion due to discounting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865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Footwear &amp; Outerwear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Competitors offering deeper discounts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152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Expansion in Organic Demand states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Failure to convert At-Risk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309909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578C6F5-7EFC-020D-8297-073F6AE8040F}"/>
              </a:ext>
            </a:extLst>
          </p:cNvPr>
          <p:cNvSpPr txBox="1"/>
          <p:nvPr/>
        </p:nvSpPr>
        <p:spPr>
          <a:xfrm>
            <a:off x="3066275" y="2684959"/>
            <a:ext cx="2468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49% of customers belong to Low-Engagement Casuals but contribute the least value.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Only 21% of customers account for the brand's strongest loyalty and profitability.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At-Risk High Value and Low-Engagement Casuals require the most retention interventions.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F3CD3A-AE07-6DDC-4517-07A422F4210D}"/>
              </a:ext>
            </a:extLst>
          </p:cNvPr>
          <p:cNvSpPr txBox="1"/>
          <p:nvPr/>
        </p:nvSpPr>
        <p:spPr>
          <a:xfrm>
            <a:off x="5686937" y="1327874"/>
            <a:ext cx="155792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Major Business </a:t>
            </a:r>
          </a:p>
          <a:p>
            <a:pPr algn="ctr"/>
            <a:r>
              <a:rPr lang="en-IN" sz="1600" b="1" dirty="0"/>
              <a:t>Findings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DC3FEA-2E6C-AD9F-3F8F-80DC3B85707A}"/>
              </a:ext>
            </a:extLst>
          </p:cNvPr>
          <p:cNvSpPr txBox="1"/>
          <p:nvPr/>
        </p:nvSpPr>
        <p:spPr>
          <a:xfrm>
            <a:off x="5452061" y="1950460"/>
            <a:ext cx="22055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/>
              <a:t>Genuine Loyalty Exists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834 Platinum Champions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Loyalty Score = 8.19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Promo Dependency =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CED8B4-C665-B16B-E97E-896321D041F8}"/>
              </a:ext>
            </a:extLst>
          </p:cNvPr>
          <p:cNvSpPr txBox="1"/>
          <p:nvPr/>
        </p:nvSpPr>
        <p:spPr>
          <a:xfrm>
            <a:off x="7550938" y="1326668"/>
            <a:ext cx="22055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/>
              <a:t>Revenue Is Still Partially </a:t>
            </a:r>
          </a:p>
          <a:p>
            <a:pPr algn="ctr">
              <a:buNone/>
            </a:pPr>
            <a:r>
              <a:rPr lang="en-IN" sz="1400" b="1" dirty="0"/>
              <a:t>Discount-Driven</a:t>
            </a:r>
            <a:br>
              <a:rPr lang="en-IN" sz="1400" b="1" dirty="0"/>
            </a:br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75.5% of At-Risk High-Value customers are promo dependent.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Revenue is strong, but margins are vulnerable.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07B371-E99F-FCE1-742E-94E18A804A6E}"/>
              </a:ext>
            </a:extLst>
          </p:cNvPr>
          <p:cNvSpPr txBox="1"/>
          <p:nvPr/>
        </p:nvSpPr>
        <p:spPr>
          <a:xfrm>
            <a:off x="9756532" y="1325295"/>
            <a:ext cx="23416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/>
              <a:t>Growth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Female customers show </a:t>
            </a:r>
            <a:br>
              <a:rPr lang="en-IN" sz="1400" dirty="0"/>
            </a:br>
            <a:r>
              <a:rPr lang="en-IN" sz="1400" dirty="0"/>
              <a:t>43% higher loyalty.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Footwear and Outerwear </a:t>
            </a:r>
            <a:br>
              <a:rPr lang="en-IN" sz="1400" dirty="0"/>
            </a:br>
            <a:r>
              <a:rPr lang="en-IN" sz="1400" dirty="0"/>
              <a:t>generate higher CLV.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Michigan and Arizona exhibit strong organic demand.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32E274-11E1-2E98-919A-239A6B9419E8}"/>
              </a:ext>
            </a:extLst>
          </p:cNvPr>
          <p:cNvSpPr txBox="1"/>
          <p:nvPr/>
        </p:nvSpPr>
        <p:spPr>
          <a:xfrm>
            <a:off x="8121452" y="3215335"/>
            <a:ext cx="1504267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SWOT Analysis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66DE82-5863-FDF8-2E88-434F0F8A392C}"/>
              </a:ext>
            </a:extLst>
          </p:cNvPr>
          <p:cNvCxnSpPr>
            <a:cxnSpLocks/>
          </p:cNvCxnSpPr>
          <p:nvPr/>
        </p:nvCxnSpPr>
        <p:spPr>
          <a:xfrm flipH="1">
            <a:off x="5399529" y="1262504"/>
            <a:ext cx="52532" cy="5595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D3C776-02BE-D1F6-3C10-6C0B51AB8CA2}"/>
              </a:ext>
            </a:extLst>
          </p:cNvPr>
          <p:cNvCxnSpPr>
            <a:cxnSpLocks/>
          </p:cNvCxnSpPr>
          <p:nvPr/>
        </p:nvCxnSpPr>
        <p:spPr>
          <a:xfrm>
            <a:off x="5452061" y="3131727"/>
            <a:ext cx="6739939" cy="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3F6E58-4EFD-DE5A-52D3-18739922548D}"/>
              </a:ext>
            </a:extLst>
          </p:cNvPr>
          <p:cNvCxnSpPr>
            <a:cxnSpLocks/>
          </p:cNvCxnSpPr>
          <p:nvPr/>
        </p:nvCxnSpPr>
        <p:spPr>
          <a:xfrm>
            <a:off x="0" y="4444533"/>
            <a:ext cx="54257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84EE00-25EF-81B8-D3B1-9BDF6A7DA44B}"/>
              </a:ext>
            </a:extLst>
          </p:cNvPr>
          <p:cNvSpPr txBox="1"/>
          <p:nvPr/>
        </p:nvSpPr>
        <p:spPr>
          <a:xfrm>
            <a:off x="1629095" y="4603372"/>
            <a:ext cx="2195213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Ideal Customer Profile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7EE368-704E-C996-C317-7FEA4BC9B226}"/>
              </a:ext>
            </a:extLst>
          </p:cNvPr>
          <p:cNvSpPr txBox="1"/>
          <p:nvPr/>
        </p:nvSpPr>
        <p:spPr>
          <a:xfrm>
            <a:off x="256108" y="5001386"/>
            <a:ext cx="157171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Demographic </a:t>
            </a:r>
          </a:p>
          <a:p>
            <a:pPr algn="ctr">
              <a:buNone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Profile</a:t>
            </a:r>
          </a:p>
          <a:p>
            <a:pPr algn="ctr"/>
            <a:r>
              <a:rPr lang="en-IN" sz="1400" b="1" dirty="0"/>
              <a:t>Gender:</a:t>
            </a:r>
            <a:r>
              <a:rPr lang="en-IN" sz="1400" dirty="0"/>
              <a:t> Female </a:t>
            </a:r>
          </a:p>
          <a:p>
            <a:pPr algn="ctr"/>
            <a:r>
              <a:rPr lang="en-IN" sz="1400" b="1" dirty="0"/>
              <a:t>Age:</a:t>
            </a:r>
            <a:r>
              <a:rPr lang="en-IN" sz="1400" dirty="0"/>
              <a:t> 38-52 years </a:t>
            </a:r>
          </a:p>
          <a:p>
            <a:pPr algn="ctr"/>
            <a:r>
              <a:rPr lang="en-IN" sz="1400" dirty="0"/>
              <a:t>(Avg. ≈ 45 years) </a:t>
            </a:r>
          </a:p>
          <a:p>
            <a:pPr algn="ctr"/>
            <a:r>
              <a:rPr lang="en-IN" sz="1400" b="1" dirty="0"/>
              <a:t>Location:</a:t>
            </a:r>
            <a:r>
              <a:rPr lang="en-IN" sz="1400" dirty="0"/>
              <a:t> Organic </a:t>
            </a:r>
          </a:p>
          <a:p>
            <a:pPr algn="ctr"/>
            <a:r>
              <a:rPr lang="en-IN" sz="1400" dirty="0"/>
              <a:t>Demand States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962DE0-70C8-62BC-485D-D38953BE8891}"/>
              </a:ext>
            </a:extLst>
          </p:cNvPr>
          <p:cNvSpPr txBox="1"/>
          <p:nvPr/>
        </p:nvSpPr>
        <p:spPr>
          <a:xfrm>
            <a:off x="1932884" y="5018972"/>
            <a:ext cx="349291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Behavioural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 CLV, high loyalty, and low promotional dependence.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Frequently purchases, spends more than average, and reports higher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Most closely resembles the Platinum Champion segment</a:t>
            </a:r>
          </a:p>
        </p:txBody>
      </p:sp>
    </p:spTree>
    <p:extLst>
      <p:ext uri="{BB962C8B-B14F-4D97-AF65-F5344CB8AC3E}">
        <p14:creationId xmlns:p14="http://schemas.microsoft.com/office/powerpoint/2010/main" val="3289880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281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AVNI ARORA</dc:creator>
  <cp:lastModifiedBy>AVNI ARORA</cp:lastModifiedBy>
  <cp:revision>4</cp:revision>
  <dcterms:created xsi:type="dcterms:W3CDTF">2026-06-15T09:45:55Z</dcterms:created>
  <dcterms:modified xsi:type="dcterms:W3CDTF">2026-06-15T12:17:49Z</dcterms:modified>
</cp:coreProperties>
</file>